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Testers</c:v>
                </c:pt>
              </c:strCache>
            </c:strRef>
          </c:tx>
          <c:spPr>
            <a:solidFill>
              <a:srgbClr val="D9DEE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222A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DEE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E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8E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DEE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DEE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
way too easy</c:v>
                  </c:pt>
                  <c:pt idx="1">
                    <c:v>2
too easy</c:v>
                  </c:pt>
                  <c:pt idx="2">
                    <c:v>3
JUST RIGHT</c:v>
                  </c:pt>
                  <c:pt idx="3">
                    <c:v>4
too hard</c:v>
                  </c:pt>
                  <c:pt idx="4">
                    <c:v>5
way too hard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600" u="none">
                  <a:solidFill>
                    <a:srgbClr val="222A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A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3E7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8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686"/>
                    </a:solidFill>
                    <a:latin typeface="Arial"/>
                  </a:rPr>
                  <a:t>number of testers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ARENA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 Results &amp; Action Plan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playtest · 26 July 2026 · Specialisation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2A33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77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testers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38404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2A3345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3977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4892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questions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38404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2A334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977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09360" y="4892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logged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38404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2A3345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3977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52560" y="4892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planned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tested, and how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comes from 10 external testers playing the full game unassisted, then answering an 8-question survey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74520"/>
            <a:ext cx="402336" cy="402336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gets the build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27248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1874520"/>
            <a:ext cx="402336" cy="402336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33088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the 13-step tutorial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61888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3952" y="1874520"/>
            <a:ext cx="402336" cy="402336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67728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Fights the AI (1v1)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96528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44000" y="16002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08592" y="1874520"/>
            <a:ext cx="402336" cy="402336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02368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survey right after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range of the 10 testers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03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2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932688" y="4846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fast action games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688" y="5394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game teach a beginner?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0" y="35204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703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4681728" y="4846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action players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81728" y="5394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audience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35204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3703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8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8430768" y="4846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 EXVS / Starward veterans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30768" y="5394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validate the mechanics?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10 testers rated the game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 is ONE tester and its colour is their answer: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3796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E8E5C"/>
          </a:solidFill>
          <a:ln/>
        </p:spPr>
      </p:sp>
      <p:sp>
        <p:nvSpPr>
          <p:cNvPr id="5" name="Text 3"/>
          <p:cNvSpPr/>
          <p:nvPr/>
        </p:nvSpPr>
        <p:spPr>
          <a:xfrm>
            <a:off x="6812280" y="10058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(4–5)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09244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9DEE6"/>
          </a:solidFill>
          <a:ln/>
        </p:spPr>
      </p:sp>
      <p:sp>
        <p:nvSpPr>
          <p:cNvPr id="7" name="Text 5"/>
          <p:cNvSpPr/>
          <p:nvPr/>
        </p:nvSpPr>
        <p:spPr>
          <a:xfrm>
            <a:off x="8366760" y="10058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(3)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0" y="1051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4453B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0" y="10058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 (1–2)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10881360" cy="987552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7099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0939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prepare you for the real fight?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68112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5870448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7456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479792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21" name="Shape 19"/>
          <p:cNvSpPr/>
          <p:nvPr/>
        </p:nvSpPr>
        <p:spPr>
          <a:xfrm>
            <a:off x="7882128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284464" y="1938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160020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8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 happy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2734056"/>
            <a:ext cx="10881360" cy="987552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28437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227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mech feel good to move?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5065776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5468112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5870448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6272784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6675120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7077456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7479792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35" name="Shape 33"/>
          <p:cNvSpPr/>
          <p:nvPr/>
        </p:nvSpPr>
        <p:spPr>
          <a:xfrm>
            <a:off x="7882128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36" name="Shape 34"/>
          <p:cNvSpPr/>
          <p:nvPr/>
        </p:nvSpPr>
        <p:spPr>
          <a:xfrm>
            <a:off x="8284464" y="30723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C4453B"/>
          </a:solidFill>
          <a:ln/>
        </p:spPr>
      </p:sp>
      <p:sp>
        <p:nvSpPr>
          <p:cNvPr id="37" name="Text 35"/>
          <p:cNvSpPr/>
          <p:nvPr/>
        </p:nvSpPr>
        <p:spPr>
          <a:xfrm>
            <a:off x="8869680" y="2734056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8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 happy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" y="3867912"/>
            <a:ext cx="10881360" cy="987552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3977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4400" y="43616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follow the action?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5065776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43" name="Shape 41"/>
          <p:cNvSpPr/>
          <p:nvPr/>
        </p:nvSpPr>
        <p:spPr>
          <a:xfrm>
            <a:off x="5468112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5870448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45" name="Shape 43"/>
          <p:cNvSpPr/>
          <p:nvPr/>
        </p:nvSpPr>
        <p:spPr>
          <a:xfrm>
            <a:off x="6272784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46" name="Shape 44"/>
          <p:cNvSpPr/>
          <p:nvPr/>
        </p:nvSpPr>
        <p:spPr>
          <a:xfrm>
            <a:off x="6675120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47" name="Shape 45"/>
          <p:cNvSpPr/>
          <p:nvPr/>
        </p:nvSpPr>
        <p:spPr>
          <a:xfrm>
            <a:off x="7077456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48" name="Shape 46"/>
          <p:cNvSpPr/>
          <p:nvPr/>
        </p:nvSpPr>
        <p:spPr>
          <a:xfrm>
            <a:off x="7479792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49" name="Shape 47"/>
          <p:cNvSpPr/>
          <p:nvPr/>
        </p:nvSpPr>
        <p:spPr>
          <a:xfrm>
            <a:off x="7882128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50" name="Shape 48"/>
          <p:cNvSpPr/>
          <p:nvPr/>
        </p:nvSpPr>
        <p:spPr>
          <a:xfrm>
            <a:off x="8284464" y="42062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C4453B"/>
          </a:solidFill>
          <a:ln/>
        </p:spPr>
      </p:sp>
      <p:sp>
        <p:nvSpPr>
          <p:cNvPr id="51" name="Text 49"/>
          <p:cNvSpPr/>
          <p:nvPr/>
        </p:nvSpPr>
        <p:spPr>
          <a:xfrm>
            <a:off x="8869680" y="386791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8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10 happy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40080" y="5001768"/>
            <a:ext cx="10881360" cy="987552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51114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4400" y="54955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melee + shooting feel satisfying?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63440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56" name="Shape 54"/>
          <p:cNvSpPr/>
          <p:nvPr/>
        </p:nvSpPr>
        <p:spPr>
          <a:xfrm>
            <a:off x="5065776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57" name="Shape 55"/>
          <p:cNvSpPr/>
          <p:nvPr/>
        </p:nvSpPr>
        <p:spPr>
          <a:xfrm>
            <a:off x="5468112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58" name="Shape 56"/>
          <p:cNvSpPr/>
          <p:nvPr/>
        </p:nvSpPr>
        <p:spPr>
          <a:xfrm>
            <a:off x="5870448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E8E5C"/>
          </a:solidFill>
          <a:ln/>
        </p:spPr>
      </p:sp>
      <p:sp>
        <p:nvSpPr>
          <p:cNvPr id="59" name="Shape 57"/>
          <p:cNvSpPr/>
          <p:nvPr/>
        </p:nvSpPr>
        <p:spPr>
          <a:xfrm>
            <a:off x="6272784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60" name="Shape 58"/>
          <p:cNvSpPr/>
          <p:nvPr/>
        </p:nvSpPr>
        <p:spPr>
          <a:xfrm>
            <a:off x="6675120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61" name="Shape 59"/>
          <p:cNvSpPr/>
          <p:nvPr/>
        </p:nvSpPr>
        <p:spPr>
          <a:xfrm>
            <a:off x="7077456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62" name="Shape 60"/>
          <p:cNvSpPr/>
          <p:nvPr/>
        </p:nvSpPr>
        <p:spPr>
          <a:xfrm>
            <a:off x="7479792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D9DEE6"/>
          </a:solidFill>
          <a:ln/>
        </p:spPr>
      </p:sp>
      <p:sp>
        <p:nvSpPr>
          <p:cNvPr id="63" name="Shape 61"/>
          <p:cNvSpPr/>
          <p:nvPr/>
        </p:nvSpPr>
        <p:spPr>
          <a:xfrm>
            <a:off x="7882128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C4453B"/>
          </a:solidFill>
          <a:ln/>
        </p:spPr>
      </p:sp>
      <p:sp>
        <p:nvSpPr>
          <p:cNvPr id="64" name="Shape 62"/>
          <p:cNvSpPr/>
          <p:nvPr/>
        </p:nvSpPr>
        <p:spPr>
          <a:xfrm>
            <a:off x="8284464" y="5340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C4453B"/>
          </a:solidFill>
          <a:ln/>
        </p:spPr>
      </p:sp>
      <p:sp>
        <p:nvSpPr>
          <p:cNvPr id="65" name="Text 63"/>
          <p:cNvSpPr/>
          <p:nvPr/>
        </p:nvSpPr>
        <p:spPr>
          <a:xfrm>
            <a:off x="8869680" y="5001768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10 happy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658368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picture:  </a:t>
            </a:r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are happy with the tutorial, controls and camera. Combat is the weak spot — that is what the action plan fixes.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is on target: 8 of 10 said “just right”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“How difficult was the enemy?” — unlike the other questions, the IDEAL answer here is the middle (3), not 5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78308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23774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testers ranged from beginners to genre veterans — and the enemy AI felt right to almost all of them at the same time. That is the hardest balancing result to hit.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01000" y="402336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4F6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4206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outliers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0" y="46177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casual player found it slightly easy (2), one slightly hard (4) — a normal spread, no action needed on difficulty itself.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tutorial works: every mechanic was found and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 is ONE tester — filled yellow = they understood AND used that mechanic in the fight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shot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right-click, release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8" name="Shape 6"/>
          <p:cNvSpPr/>
          <p:nvPr/>
        </p:nvSpPr>
        <p:spPr>
          <a:xfrm>
            <a:off x="5065776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9" name="Shape 7"/>
          <p:cNvSpPr/>
          <p:nvPr/>
        </p:nvSpPr>
        <p:spPr>
          <a:xfrm>
            <a:off x="5468112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10" name="Shape 8"/>
          <p:cNvSpPr/>
          <p:nvPr/>
        </p:nvSpPr>
        <p:spPr>
          <a:xfrm>
            <a:off x="5870448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11" name="Shape 9"/>
          <p:cNvSpPr/>
          <p:nvPr/>
        </p:nvSpPr>
        <p:spPr>
          <a:xfrm>
            <a:off x="6272784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7077456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479792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882128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84464" y="18013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0" y="155448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E8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2487168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28895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blocks melee and shots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22" name="Shape 20"/>
          <p:cNvSpPr/>
          <p:nvPr/>
        </p:nvSpPr>
        <p:spPr>
          <a:xfrm>
            <a:off x="5065776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5468112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24" name="Shape 22"/>
          <p:cNvSpPr/>
          <p:nvPr/>
        </p:nvSpPr>
        <p:spPr>
          <a:xfrm>
            <a:off x="5870448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6272784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0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27" name="Shape 25"/>
          <p:cNvSpPr/>
          <p:nvPr/>
        </p:nvSpPr>
        <p:spPr>
          <a:xfrm>
            <a:off x="7077456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7882128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30" name="Shape 28"/>
          <p:cNvSpPr/>
          <p:nvPr/>
        </p:nvSpPr>
        <p:spPr>
          <a:xfrm>
            <a:off x="8284464" y="2734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31" name="Text 29"/>
          <p:cNvSpPr/>
          <p:nvPr/>
        </p:nvSpPr>
        <p:spPr>
          <a:xfrm>
            <a:off x="8869680" y="248716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E8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0080" y="3419856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Parry punish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914400" y="3822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hit after blocking a melee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36" name="Shape 34"/>
          <p:cNvSpPr/>
          <p:nvPr/>
        </p:nvSpPr>
        <p:spPr>
          <a:xfrm>
            <a:off x="5065776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37" name="Shape 35"/>
          <p:cNvSpPr/>
          <p:nvPr/>
        </p:nvSpPr>
        <p:spPr>
          <a:xfrm>
            <a:off x="5468112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38" name="Shape 36"/>
          <p:cNvSpPr/>
          <p:nvPr/>
        </p:nvSpPr>
        <p:spPr>
          <a:xfrm>
            <a:off x="5870448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39" name="Shape 37"/>
          <p:cNvSpPr/>
          <p:nvPr/>
        </p:nvSpPr>
        <p:spPr>
          <a:xfrm>
            <a:off x="6272784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40" name="Shape 38"/>
          <p:cNvSpPr/>
          <p:nvPr/>
        </p:nvSpPr>
        <p:spPr>
          <a:xfrm>
            <a:off x="6675120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41" name="Shape 39"/>
          <p:cNvSpPr/>
          <p:nvPr/>
        </p:nvSpPr>
        <p:spPr>
          <a:xfrm>
            <a:off x="7077456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42" name="Shape 40"/>
          <p:cNvSpPr/>
          <p:nvPr/>
        </p:nvSpPr>
        <p:spPr>
          <a:xfrm>
            <a:off x="7479792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2128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84464" y="366674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69680" y="3419856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640080" y="4352544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4407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Knockdown bar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914400" y="4754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it to floor the enemy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663440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50" name="Shape 48"/>
          <p:cNvSpPr/>
          <p:nvPr/>
        </p:nvSpPr>
        <p:spPr>
          <a:xfrm>
            <a:off x="5065776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51" name="Shape 49"/>
          <p:cNvSpPr/>
          <p:nvPr/>
        </p:nvSpPr>
        <p:spPr>
          <a:xfrm>
            <a:off x="5468112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52" name="Shape 50"/>
          <p:cNvSpPr/>
          <p:nvPr/>
        </p:nvSpPr>
        <p:spPr>
          <a:xfrm>
            <a:off x="5870448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53" name="Shape 51"/>
          <p:cNvSpPr/>
          <p:nvPr/>
        </p:nvSpPr>
        <p:spPr>
          <a:xfrm>
            <a:off x="6272784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54" name="Shape 52"/>
          <p:cNvSpPr/>
          <p:nvPr/>
        </p:nvSpPr>
        <p:spPr>
          <a:xfrm>
            <a:off x="6675120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55" name="Shape 53"/>
          <p:cNvSpPr/>
          <p:nvPr/>
        </p:nvSpPr>
        <p:spPr>
          <a:xfrm>
            <a:off x="7077456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79792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82128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84464" y="459943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69680" y="435254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10</a:t>
            </a:r>
            <a:endParaRPr lang="en-US" sz="1450" dirty="0"/>
          </a:p>
        </p:txBody>
      </p:sp>
      <p:sp>
        <p:nvSpPr>
          <p:cNvPr id="60" name="Shape 58"/>
          <p:cNvSpPr/>
          <p:nvPr/>
        </p:nvSpPr>
        <p:spPr>
          <a:xfrm>
            <a:off x="640080" y="528523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0" y="5340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step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914400" y="5687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combo cancel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663440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64" name="Shape 62"/>
          <p:cNvSpPr/>
          <p:nvPr/>
        </p:nvSpPr>
        <p:spPr>
          <a:xfrm>
            <a:off x="5065776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65" name="Shape 63"/>
          <p:cNvSpPr/>
          <p:nvPr/>
        </p:nvSpPr>
        <p:spPr>
          <a:xfrm>
            <a:off x="5468112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66" name="Shape 64"/>
          <p:cNvSpPr/>
          <p:nvPr/>
        </p:nvSpPr>
        <p:spPr>
          <a:xfrm>
            <a:off x="5870448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B33D"/>
          </a:solidFill>
          <a:ln/>
        </p:spPr>
      </p:sp>
      <p:sp>
        <p:nvSpPr>
          <p:cNvPr id="67" name="Shape 65"/>
          <p:cNvSpPr/>
          <p:nvPr/>
        </p:nvSpPr>
        <p:spPr>
          <a:xfrm>
            <a:off x="6272784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77456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79792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82128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84464" y="5532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869680" y="528523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10</a:t>
            </a:r>
            <a:endParaRPr lang="en-US" sz="1450" dirty="0"/>
          </a:p>
        </p:txBody>
      </p:sp>
      <p:sp>
        <p:nvSpPr>
          <p:cNvPr id="74" name="Text 72"/>
          <p:cNvSpPr/>
          <p:nvPr/>
        </p:nvSpPr>
        <p:spPr>
          <a:xfrm>
            <a:off x="658368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test, the worry was that players would never find the charge shot or shield. Every single tester did. Only the advanced rainbow step needs a stronger tutorial moment.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testers complained about, in their own words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 is ONE tester — red = they raised this problem in their written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once combo’ed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751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 testers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8" name="Shape 6"/>
          <p:cNvSpPr/>
          <p:nvPr/>
        </p:nvSpPr>
        <p:spPr>
          <a:xfrm>
            <a:off x="5020056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9" name="Shape 7"/>
          <p:cNvSpPr/>
          <p:nvPr/>
        </p:nvSpPr>
        <p:spPr>
          <a:xfrm>
            <a:off x="5376672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10" name="Shape 8"/>
          <p:cNvSpPr/>
          <p:nvPr/>
        </p:nvSpPr>
        <p:spPr>
          <a:xfrm>
            <a:off x="5733288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72984" y="1801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55448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“Can’t escape a combo after getting caught.”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487168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42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at close range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2907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testers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0056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23" name="Shape 21"/>
          <p:cNvSpPr/>
          <p:nvPr/>
        </p:nvSpPr>
        <p:spPr>
          <a:xfrm>
            <a:off x="5376672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33288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9904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9752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16368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72984" y="27340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2487168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camera spins too much”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3419856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474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Melee fails to connect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testers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0056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37" name="Shape 35"/>
          <p:cNvSpPr/>
          <p:nvPr/>
        </p:nvSpPr>
        <p:spPr>
          <a:xfrm>
            <a:off x="5376672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33288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9904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03136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59752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72984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66760" y="3419856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“Sometimes my last hit combo don’t hit the enemy, pls fix”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4352544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4407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feel (turning, tap buffer)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14400" y="47731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testers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663440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50" name="Shape 48"/>
          <p:cNvSpPr/>
          <p:nvPr/>
        </p:nvSpPr>
        <p:spPr>
          <a:xfrm>
            <a:off x="5020056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51" name="Shape 49"/>
          <p:cNvSpPr/>
          <p:nvPr/>
        </p:nvSpPr>
        <p:spPr>
          <a:xfrm>
            <a:off x="5376672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33288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9904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46520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03136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9752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16368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72984" y="459943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66760" y="4352544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“A/D can try to not have instant turn…”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" y="528523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9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0" y="53400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sound cues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914400" y="5705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10 testers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663440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4453B"/>
          </a:solidFill>
          <a:ln/>
        </p:spPr>
      </p:sp>
      <p:sp>
        <p:nvSpPr>
          <p:cNvPr id="64" name="Shape 62"/>
          <p:cNvSpPr/>
          <p:nvPr/>
        </p:nvSpPr>
        <p:spPr>
          <a:xfrm>
            <a:off x="5020056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76672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33288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89904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6520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03136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59752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16368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72984" y="5532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0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66760" y="5285232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some sound cues”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58368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squares:  </a:t>
            </a:r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bug hit everyone. Combo-pressure complaints came from 3 testers; the camera from 2 — but those two also gave the lowest camera scores, and one called it the single thing they would change.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for the next build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— every action traces back to a chart on the previous slides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64208"/>
            <a:ext cx="493776" cy="493776"/>
          </a:xfrm>
          <a:prstGeom prst="ellipse">
            <a:avLst/>
          </a:prstGeom>
          <a:solidFill>
            <a:srgbClr val="C445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64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53619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Camera: close-range readability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19019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orbit-rate cap, add wall avoidance (Cinemachine Deoccluder).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0" y="153619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wrote it up · lowest camera scores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697480"/>
            <a:ext cx="493776" cy="493776"/>
          </a:xfrm>
          <a:prstGeom prst="ellipse">
            <a:avLst/>
          </a:prstGeom>
          <a:solidFill>
            <a:srgbClr val="C445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97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56946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Melee: make the finisher always connect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00200" y="293522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with hit logging; tune the punch-4 hit window and micro-lunge distance.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0" y="256946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· hurts the core reward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730752"/>
            <a:ext cx="493776" cy="49377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30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60273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escape options when caught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00200" y="3968496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step breaks incoming shot tracking; verify AI string length and homing parity.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360273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 felt trapped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562856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4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764024"/>
            <a:ext cx="493776" cy="49377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64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0200" y="463600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first sound pass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600200" y="50017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Hit, shot, charge, parry clang, knockdown, landing — sound doubles as gameplay feedback.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46360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has zero SFX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59612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5797296"/>
            <a:ext cx="493776" cy="493776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7972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00200" y="566928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Polish: input feel &amp; animations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600200" y="60350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Strafe turn smoothing, 0.2 s double-tap buffer, real knockdown / strafe clips.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0" y="56692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· confirmed backlog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we’ll know it worked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" y="1463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same 8-question survey after P1–P4 land, with the same tester mix. Targets: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2A3345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feel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→  3.8+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3840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finisher fix and audio pass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3317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2A3345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 →  4.0+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9160" y="3840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nobody names it the main problem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2A3345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“Can’t escape”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→  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3840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mentions, once step-dodging breaks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3035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is right — one EXVS veteran rated the game highest in the whole sample. Fix the reliability the other one flagged, and both audiences are served.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2026-07-28T09:31:20Z</dcterms:created>
  <dcterms:modified xsi:type="dcterms:W3CDTF">2026-07-28T09:31:20Z</dcterms:modified>
</cp:coreProperties>
</file>